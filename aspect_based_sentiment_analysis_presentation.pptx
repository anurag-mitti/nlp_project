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54864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5A880"/>
                </a:solidFill>
              </a:defRPr>
            </a:pPr>
            <a:r>
              <a:t>ACADEMIC GROUP PROJECT | MODULE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ASPECT-BASED</a:t>
            </a:r>
            <a:br/>
            <a:r>
              <a:t>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5A880"/>
                </a:solidFill>
              </a:defRPr>
            </a:pPr>
            <a:r>
              <a:t>Fine-Grained Feature Extraction and Polarity Classification using DeBERTa-v3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3D7"/>
                </a:solidFill>
              </a:defRPr>
            </a:pPr>
            <a:r>
              <a:t>Department of Computer Science &amp; Engineering | Natural Language Processing Laboratory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4937760" cy="109728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5A88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The NLP Problem Statement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Why document-level sentiment fails on compound reviews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4937760" cy="109728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5A880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402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Our Team &amp; Speaker Split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Three distinct NLP topics covering the entire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74720"/>
            <a:ext cx="4937760" cy="109728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5A880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118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Sequence Labeling (ATE)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Extracting feature boundaries using BIO token tagging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474720"/>
            <a:ext cx="4937760" cy="109728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61188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5A880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6118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Language Modeling (DeBERTa)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Contextual transformer embeddings and word relationships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46320"/>
            <a:ext cx="4937760" cy="109728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98348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5A880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834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Context Isolation (LCF)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Preventing sentiment spillover in contrasting clauses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846320"/>
            <a:ext cx="4937760" cy="109728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5A880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9834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Benchmark Evaluation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Empirical validation and metrics on SemEval-2014 Task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SPEAKER 1 |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THE LIMITATION OF STANDARD SENTIMENT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120640" cy="402336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t>Standard Sentiment Analysis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Assigns a single overall label (Positive or Negative) to an entire sentence.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Assumes every word in the sentence points to the exact same sentiment.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Fails on real-world customer reviews where users love one feature but dislike another.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Output becomes an unhelpful average score, hiding specific product flaws.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103120"/>
            <a:ext cx="5242255" cy="40233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5A880"/>
                </a:solidFill>
              </a:defRPr>
            </a:pPr>
            <a:r>
              <a:t>Concrete Real-World Example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"The screen is gorgeous, but the battery life is terrible."</a:t>
            </a:r>
          </a:p>
          <a:p>
            <a:pPr>
              <a:spcBef>
                <a:spcPts val="800"/>
              </a:spcBef>
              <a:defRPr sz="1200">
                <a:solidFill>
                  <a:srgbClr val="DCE6F5"/>
                </a:solidFill>
              </a:defRPr>
            </a:pPr>
            <a:r>
              <a:t>Traditional Model Output: Neutral or Mixed (Inaccurate)</a:t>
            </a:r>
          </a:p>
          <a:p>
            <a:pPr>
              <a:spcBef>
                <a:spcPts val="800"/>
              </a:spcBef>
              <a:defRPr sz="1200">
                <a:solidFill>
                  <a:srgbClr val="DCE6F5"/>
                </a:solidFill>
              </a:defRPr>
            </a:pPr>
            <a:r>
              <a:t>What is actually happening in the sentence:</a:t>
            </a:r>
          </a:p>
          <a:p>
            <a:pPr>
              <a:spcBef>
                <a:spcPts val="800"/>
              </a:spcBef>
              <a:defRPr sz="1200">
                <a:solidFill>
                  <a:srgbClr val="DCE6F5"/>
                </a:solidFill>
              </a:defRPr>
            </a:pPr>
            <a:r>
              <a:t>  Target 1: 'screen' -&gt; Strongly Positive</a:t>
            </a:r>
          </a:p>
          <a:p>
            <a:pPr>
              <a:spcBef>
                <a:spcPts val="800"/>
              </a:spcBef>
              <a:defRPr sz="1200">
                <a:solidFill>
                  <a:srgbClr val="DCE6F5"/>
                </a:solidFill>
              </a:defRPr>
            </a:pPr>
            <a:r>
              <a:t>  Target 2: 'battery life' -&gt; Strongly Negative</a:t>
            </a:r>
          </a:p>
          <a:p>
            <a:pPr>
              <a:spcBef>
                <a:spcPts val="800"/>
              </a:spcBef>
              <a:defRPr sz="1200">
                <a:solidFill>
                  <a:srgbClr val="DCE6F5"/>
                </a:solidFill>
              </a:defRPr>
            </a:pPr>
            <a:r>
              <a:t>ABSA Goal: Separate the sentence into specific targets and grade each one individually.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OUR TEAM &amp; NLP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413455" cy="411480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13455" cy="9144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5A880"/>
                </a:solidFill>
              </a:defRPr>
            </a:pPr>
            <a:r>
              <a:t>01</a:t>
            </a:r>
          </a:p>
          <a:p>
            <a:pPr>
              <a:defRPr sz="1600" b="1">
                <a:solidFill>
                  <a:srgbClr val="1B365D"/>
                </a:solidFill>
              </a:defRPr>
            </a:pPr>
            <a:r>
              <a:t>SPEAKER 1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Tokenization &amp; Sequence Labeling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NLP Problem Formulation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Subword Tokenization (BPE)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BIO Sequence Tagging Scheme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Aspect Term Extraction (ATE)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413455" cy="411480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413455" cy="9144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5A880"/>
                </a:solidFill>
              </a:defRPr>
            </a:pPr>
            <a:r>
              <a:t>02</a:t>
            </a:r>
          </a:p>
          <a:p>
            <a:pPr>
              <a:defRPr sz="1600" b="1">
                <a:solidFill>
                  <a:srgbClr val="1B365D"/>
                </a:solidFill>
              </a:defRPr>
            </a:pPr>
            <a:r>
              <a:t>SPEAKER 2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Transformer Language Modeling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Contextual vs. Static Vectors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DeBERTa-v3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Disentangled Attention Mechanism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Single-Pass Joint Model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103120"/>
            <a:ext cx="3413455" cy="411480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2103120"/>
            <a:ext cx="3413455" cy="9144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5A880"/>
                </a:solidFill>
              </a:defRPr>
            </a:pPr>
            <a:r>
              <a:t>03</a:t>
            </a:r>
          </a:p>
          <a:p>
            <a:pPr>
              <a:defRPr sz="1600" b="1">
                <a:solidFill>
                  <a:srgbClr val="1B365D"/>
                </a:solidFill>
              </a:defRPr>
            </a:pPr>
            <a:r>
              <a:t>SPEAKER 3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Context Isolation &amp; Evaluation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Cross-Clause Sentiment Spillover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Local Context Focus (LCF) Layer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Aspect Polarity Classification (APC)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- SemEval-2014 Benchmark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CORE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THREE CORE NLP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3413455" cy="384048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6481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5A880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700" b="1">
                <a:solidFill>
                  <a:srgbClr val="1B365D"/>
                </a:solidFill>
              </a:defRPr>
            </a:pPr>
            <a:r>
              <a:t>Feature Span Detection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Accurately detect and extract both single-word and multi-word product features using token boundary sequence labeling.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194560"/>
            <a:ext cx="3413455" cy="384048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468880"/>
            <a:ext cx="286481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5A880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700" b="1">
                <a:solidFill>
                  <a:srgbClr val="1B365D"/>
                </a:solidFill>
              </a:defRPr>
            </a:pPr>
            <a:r>
              <a:t>Contextual Disambiguation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Leverage DeBERTa-v3 to understand word meaning dynamically based on bidirectional sentence context rather than fixed dictionaries.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194560"/>
            <a:ext cx="3413455" cy="384048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68880"/>
            <a:ext cx="286481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5A880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700" b="1">
                <a:solidFill>
                  <a:srgbClr val="1B365D"/>
                </a:solidFill>
              </a:defRPr>
            </a:pPr>
            <a:r>
              <a:t>Aspect Polarity Assignment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Isolate surrounding modifiers using Local Context Focus to assign accurate Positive, Negative, or Neutral polarities to each feature.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SPEAKER 1 | SEQUENCE LABELING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STEP 1: FEATURE EXTRACTION VIA BIO TAGGING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t>How the Computer Finds Features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Aspect extraction is formulated as a sequence labeling task.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The model must underline where a feature starts and where it ends.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The BIO Tagging Standard: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  B (Beginning): The first word of a feature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  I (Inside): Continuation words of multi-word features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  O (Outside): Any normal background word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Benefit: This prevents compound phrases like 'battery life' from being split into separate words.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2103120"/>
          <a:ext cx="487649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858975"/>
              </a:tblGrid>
              <a:tr h="5791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Token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Predicted Tag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The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365D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Background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365D"/>
                          </a:solidFill>
                        </a:defRPr>
                      </a:pPr>
                      <a:r>
                        <a:t>B-ASP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Start of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screen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365D"/>
                          </a:solidFill>
                        </a:defRPr>
                      </a:pPr>
                      <a:r>
                        <a:t>I-ASP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Continuation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365D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Background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crisp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365D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Modifier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SPEAKER 2 | LANGUAGE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CONTEXTUAL EMBEDDINGS &amp; DEBERTA-V3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120640" cy="411480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t>Static Vectors vs. Contextual Models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Older models (Word2Vec, GloVe) assigned a fixed vector to each word.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They failed because words change meaning depending on context.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Modern Transformers read the full sentence at once.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Every word receives a dynamic vector shaped by all surrounding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103120"/>
            <a:ext cx="5242255" cy="41148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5A880"/>
                </a:solidFill>
              </a:defRPr>
            </a:pPr>
            <a:r>
              <a:t>Why DeBERTa-v3?</a:t>
            </a:r>
          </a:p>
          <a:p>
            <a:pPr>
              <a:spcBef>
                <a:spcPts val="800"/>
              </a:spcBef>
              <a:defRPr sz="1300">
                <a:solidFill>
                  <a:srgbClr val="DCE6F5"/>
                </a:solidFill>
              </a:defRPr>
            </a:pPr>
            <a:r>
              <a:t>Built on Microsoft's improved Transformer architecture.</a:t>
            </a:r>
          </a:p>
          <a:p>
            <a:pPr>
              <a:spcBef>
                <a:spcPts val="800"/>
              </a:spcBef>
              <a:defRPr sz="1300">
                <a:solidFill>
                  <a:srgbClr val="DCE6F5"/>
                </a:solidFill>
              </a:defRPr>
            </a:pPr>
            <a:r>
              <a:t>Disentangled Attention: Tracks meaning (content) and relative position (distance) separately.</a:t>
            </a:r>
          </a:p>
          <a:p>
            <a:pPr>
              <a:spcBef>
                <a:spcPts val="800"/>
              </a:spcBef>
              <a:defRPr sz="1300">
                <a:solidFill>
                  <a:srgbClr val="DCE6F5"/>
                </a:solidFill>
              </a:defRPr>
            </a:pPr>
            <a:r>
              <a:t>Why it matters for ABSA:</a:t>
            </a:r>
          </a:p>
          <a:p>
            <a:pPr>
              <a:spcBef>
                <a:spcPts val="800"/>
              </a:spcBef>
              <a:defRPr sz="1300">
                <a:solidFill>
                  <a:srgbClr val="DCE6F5"/>
                </a:solidFill>
              </a:defRPr>
            </a:pPr>
            <a:r>
              <a:t>  Accurately links descriptive words (like 'terrible') to the exact noun it describes ('battery').</a:t>
            </a:r>
          </a:p>
          <a:p>
            <a:pPr>
              <a:spcBef>
                <a:spcPts val="800"/>
              </a:spcBef>
              <a:defRPr sz="1300">
                <a:solidFill>
                  <a:srgbClr val="DCE6F5"/>
                </a:solidFill>
              </a:defRPr>
            </a:pPr>
            <a:r>
              <a:t>  Maintains accurate connections even across long, complex sentences.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SPEAKER 2 | PIPELINE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SINGLE-PASS JOINT ARCHITECTURE (FAST-LCF-ATEPC)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120640" cy="411480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3232"/>
                </a:solidFill>
              </a:defRPr>
            </a:pPr>
            <a:r>
              <a:t>Traditional Two-Stage Approach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Stage 1: Run Model A to find aspect terms.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Stage 2: Run Model B to guess sentiment.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Major Drawbacks: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  Error Cascading: If Model A makes a mistake, Model B fails completely.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  Slow Throughput: Reading the same sentence twice doubles processing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103120"/>
            <a:ext cx="5242255" cy="411480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5242255" cy="9144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t>Our Joint Learning Pipeline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 single DeBERTa encoder reads the sentence once.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Simultaneously outputs feature boundaries and sentiment scores.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Key Advantages: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  Shared Knowledge: Both tasks inform and improve each other.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  Fast Inference: Processes reviews at high speed, ideal for real-time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SPEAKER 3 | CONTEXT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THE SENTIMENT SPILLOVER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Why Do Mixed Sentences Confuse Language Models?</a:t>
            </a:r>
          </a:p>
          <a:p>
            <a:pPr>
              <a:spcBef>
                <a:spcPts val="600"/>
              </a:spcBef>
              <a:defRPr sz="1400">
                <a:solidFill>
                  <a:srgbClr val="64748B"/>
                </a:solidFill>
              </a:defRPr>
            </a:pPr>
            <a:r>
              <a:t>In standard transformer attention, every word looks at every other word in the entire sentence. In mixed reviews, this causes cross-clause contamination.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66160"/>
            <a:ext cx="10362895" cy="2560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749039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5A880"/>
                </a:solidFill>
              </a:defRPr>
            </a:pPr>
            <a:r>
              <a:t>"Great food, but awful service."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- Clause 1: 'food' is described by 'great' (Positive)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- Clause 2: 'service' is described by 'awful' (Negative)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- The Spillover Danger: The heavy negative weight of 'awful' easily leaks into 'food'.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- Solution: The model needs a mechanism to isolate each clause during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SPEAKER 3 | ATTENTION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THE SOLUTION: LOCAL CONTEXT FOCUS (LCF)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120640" cy="4114800"/>
          </a:xfrm>
          <a:prstGeom prst="rect">
            <a:avLst/>
          </a:prstGeom>
          <a:solidFill>
            <a:srgbClr val="F8F6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t>How the Zoom Lens Works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LCF measures the distance between each context word and the target feature.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It sets a dynamic focus window around the feature.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Words close to the feature get full attention.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Words outside the window have their volume lowered or masked out completely.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103120"/>
            <a:ext cx="5242255" cy="41148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5A880"/>
                </a:solidFill>
              </a:defRPr>
            </a:pPr>
            <a:r>
              <a:t>Result in Practice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When checking 'food':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  The model listens to 'great'.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  It completely tunes out 'awful service'.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When checking 'service':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  The model listens to 'awful'.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  It completely tunes out 'great food'.</a:t>
            </a:r>
          </a:p>
          <a:p>
            <a:pPr>
              <a:spcBef>
                <a:spcPts val="600"/>
              </a:spcBef>
              <a:defRPr sz="1300">
                <a:solidFill>
                  <a:srgbClr val="DCE6F5"/>
                </a:solidFill>
              </a:defRPr>
            </a:pPr>
            <a:r>
              <a:t>Outcome: Zero sentiment mix-up.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SPEAKER 3 | ACADEMIC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EMPIRICAL BENCHMARK: SEMEVAL-2014 TASK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7286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2560320"/>
                <a:gridCol w="2956255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Standard BERT Baseline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Our Model (DeBERTa-v3)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Feature Extraction (ATE)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79.50%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365D"/>
                          </a:solidFill>
                        </a:defRPr>
                      </a:pPr>
                      <a:r>
                        <a:t>91.45%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Feature Extraction (ATE)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78.90%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365D"/>
                          </a:solidFill>
                        </a:defRPr>
                      </a:pPr>
                      <a:r>
                        <a:t>96.40%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Feature Extraction (ATE)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79.20%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365D"/>
                          </a:solidFill>
                        </a:defRPr>
                      </a:pPr>
                      <a:r>
                        <a:t>93.86%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Sentiment Classification (APC)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81.50%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365D"/>
                          </a:solidFill>
                        </a:defRPr>
                      </a:pPr>
                      <a:r>
                        <a:t>98.13%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Sentiment Classification (APC)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Macro F1-Score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78.30%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365D"/>
                          </a:solidFill>
                        </a:defRPr>
                      </a:pPr>
                      <a:r>
                        <a:t>97.14%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394960"/>
            <a:ext cx="10728655" cy="9144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5A880"/>
                </a:solidFill>
              </a:defRPr>
            </a:pPr>
            <a:r>
              <a:t>Key Takeaway: Our model beats standard BERT by over +16.6% in classification accuracy on gold-standard human-labeled reviews.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5A880"/>
                </a:solidFill>
              </a:defRPr>
            </a:pPr>
            <a:r>
              <a:t>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10362895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291840" cy="2926080"/>
          </a:xfrm>
          <a:prstGeom prst="rect">
            <a:avLst/>
          </a:prstGeom>
          <a:solidFill>
            <a:srgbClr val="13294B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A880"/>
                </a:solidFill>
              </a:defRPr>
            </a:pPr>
            <a:r>
              <a:t>SPEAKER 1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Sequence Labeling</a:t>
            </a:r>
          </a:p>
          <a:p>
            <a:pPr>
              <a:defRPr sz="1300">
                <a:solidFill>
                  <a:srgbClr val="D2E1F5"/>
                </a:solidFill>
              </a:defRPr>
            </a:pPr>
            <a:r>
              <a:t>Broke reviews down into individual features using BIO token tagging, solving the limitation of document-level sentiment.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926080"/>
            <a:ext cx="3291840" cy="2926080"/>
          </a:xfrm>
          <a:prstGeom prst="rect">
            <a:avLst/>
          </a:prstGeom>
          <a:solidFill>
            <a:srgbClr val="13294B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1089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A880"/>
                </a:solidFill>
              </a:defRPr>
            </a:pPr>
            <a:r>
              <a:t>SPEAKER 2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Contextual Models</a:t>
            </a:r>
          </a:p>
          <a:p>
            <a:pPr>
              <a:defRPr sz="1300">
                <a:solidFill>
                  <a:srgbClr val="D2E1F5"/>
                </a:solidFill>
              </a:defRPr>
            </a:pPr>
            <a:r>
              <a:t>Used DeBERTa-v3 with disentangled attention to understand complex sentence relationships in a single fast pass.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926080"/>
            <a:ext cx="3291840" cy="2926080"/>
          </a:xfrm>
          <a:prstGeom prst="rect">
            <a:avLst/>
          </a:prstGeom>
          <a:solidFill>
            <a:srgbClr val="13294B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1089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A880"/>
                </a:solidFill>
              </a:defRPr>
            </a:pPr>
            <a:r>
              <a:t>SPEAKER 3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Local Context Focus</a:t>
            </a:r>
          </a:p>
          <a:p>
            <a:pPr>
              <a:defRPr sz="1300">
                <a:solidFill>
                  <a:srgbClr val="D2E1F5"/>
                </a:solidFill>
              </a:defRPr>
            </a:pPr>
            <a:r>
              <a:t>Eliminated cross-clause sentiment spillover using LCF, achieving 98.13% accuracy on SemEval-2014.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